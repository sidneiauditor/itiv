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esta apresentação trata de um projeto da Coordenadoria de Inteligência Fiscal para fortalecer, com base técnica, a validação do valor de mercado usado no cálculo do ITIV. Não é um projeto de automação total — é uma ferramenta de apoio à decisão dos auditores e procuradores.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não é um problema pontual — é um padrão recorrente de contestação administrativa e judicial. O ônus da prova técnica geralmente recai sobre o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concreto: dois apartamentos de 70m² no mesmo bairro, um com vista e reforma, outro sem — valores diferentes, mesma metragem.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já existe — o projeto aproveita um ativo que a Prefeitura já tem, mas ainda não usa de forma sistemática para esse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Existem exceções (valores simbólicos, erros, casos atípicos) que precisam ser tratadas com cuidado antes de ensinar o sistema — senão o aprendizado fica distorcido.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Slide-chave para desmistificar “inteligência artificial”. Não é mágica nem adivinhação — é comparação em grande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rapidamente “setor fiscal”: é a divisão geográfica usada pela Prefeitura para fins de cobrança de impostos.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a palavra “compara” — é o verbo central de toda 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é como uma previsão do tempo que diz “entre 24°C e 28°C”, não um número fechado.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sensível. Deixar claro, sem ambiguidade: sinalização não é punição. É um alerta para o auditor olhar com mais atenção.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caderno de exemplos: se o caderno tem erros, o aluno aprende errado. O mesmo vale para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Testes específicos verificam se o modelo trata igual imóveis de faixas de valor diferentes — garantia técnica e de justiça fiscal.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Treinar é como estudar com exemplos; validar é fazer uma prova com questões novas, nunca vistas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citado após a apresentação — vale reforçar verbalmente cada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diretamente ao problema do slide 2 — fechar o raciocínio: faltava prova técnica, o projeto entrega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para a legitimidade do projeto: não é uma ferramenta “contra” o contribuinte, é padronização que também protege quem declarou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para procuradores e dirigentes — mostra controle e responsabilidade formal, não um “sistema caixa-preta”.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reforçando: o problema é real; a base histórica é um ativo importante; o modelo revela padrões de mercado; a IA apoia, não substitui; o objetivo é melhorar a qualidade da decisão pública.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ITIV e valor de mercado: como a Inteligência Fiscal pode usar dados para melhorar a avaliação dos imóveis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projeto para fortalecer, com base técnica, a validação do valor de mercado usado no cálculo do ITIV.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Ícone de prédio + lupa, identidade institucional da Prefeitura.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projeto para tornar a avaliação do ITIV mais técnica, consistente e defensável.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que motivou o projeto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Muitos contribuintes contestam o valor do ITIV, alegando que ele não reflete o valor real de mercado.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Prefeitura não consegue provar tecnicamente o valor usado, o risco de perder o processo aumenta.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Balança da justiça + indicador simples de processos administrativos/judiciais.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não é apenas calcular o imposto, mas justificar tecnicamente o valor de mercado utilizado.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É DIFÍCIL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valor de mercado é difícil de definir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Imóveis não são produtos padronizados.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apartamentos parecidos podem valer diferente por causa de localização, padrão do prédio, andar, época da venda e outros fatores.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Duas plantas de apartamentos semelhantes, lado a lado, com diferenças destacadas.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imóveis exige comparação com o mercado, não apenas aplicação de uma tabela fixa.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equipe de Inteligência Fiscal propôs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histórico de transações imobiliárias já registrado pelo Município para estimar o valor de mercado de novas transações de ITIV.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Banco de dados → seta → imóvel com selo de valor estimado.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Município já possui uma fonte valiosa de informação: o próprio histórico de transações imobiliárias.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 CENTRAL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premissa de boa-fé das transações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maioria das transações registradas reflete valores reais ou próximos do mercado.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aprende com o comportamento da maioria, não com casos isolados.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Nuvem de pontos representando milhares de vendas, com poucos pontos fora do padrão destacados.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histórica contém ruídos, mas também contém o padrão real do mercado.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EXPLICANDO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explicar inteligência artificial para um leigo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“Imagine um avaliador que já analisou milhares de vendas de imóveis na cidade.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tempo, ele percebe que bairro, área e tipo de prédio influenciam o preço.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faz algo parecido, só que com muito mais dados e de forma padronizada.”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Avaliador humano ao lado de um “avaliador digital”, ambos olhando o mesmo conjunto de imóveis.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identifica padrões em muitas transações para apoiar uma estimativa mais técnica.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OBSERVADOS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informações o modelo observa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 geográfica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fiscal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do imóvel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de pavimentos do prédio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Andar da unidade, quando disponível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preço por região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transações semelhantes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Imóvel central com raios saindo para ícones de mapa, régua, prédio e calendário.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estimado nasce da comparação com imóveis semelhantes.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modelo estima o valor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Nova transação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Lê características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Compara com histórico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Identifica padrão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Estima faixa de valor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Sinaliza divergência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Fluxograma horizontal de 6 caixas conectadas por setas.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não “chuta” o valor; ele compara o imóvel com o comportamento observado no mercado.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FAIXA, NÃO NÚMERO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usar uma faixa de valor, e não um número único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avaliação tem uma margem de incerteza.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Reforma, vista, estado de conservação e urgência da venda nem sempre aparecem no cadastro.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isso, o modelo trabalha com uma faixa provável de valor.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Gráfico tipo termômetro/intervalo: valor central com faixa colorida ao redor.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faixa de segurança evita que diferenças normais de mercado sejam tratadas como irregularidade.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HÁ DIVERGÊNCIA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 quando há divergência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valor declarado fica muito abaixo da faixa esperada, a transação é sinalizada para análise.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não é autuação automática.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Radar com ponto piscando ao lado de um auditor examinando documento.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aponta indícios; a análise humana confirma ou afasta o problema.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COM OS DADOS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necessários com os dados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ou tratar registros duplicados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valores simbólicos ou extremos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transações válidas de inadequadas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Considerar a evolução dos preços ao longo do tempo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que o modelo aprenda com informações distorcidas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Planilha “bagunçada” transformando-se em planilha organizada (antes/depois).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qualidade da IA depende da qualidade dos dados usados para ensiná-la.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INJUSTIÇAS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para evitar injustiças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precisa funcionar bem tanto para imóveis baratos quanto para imóveis caros.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pode penalizar regiões ou cadastros com informações incompletas.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Balança equilibrada: imóvel barato de um lado, imóvel caro do outro.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precisa ser tecnicamente bom e fiscalmente justo.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saber se o modelo é confiável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é testado com transações reais que ele nunca viu antes.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médio, dispersão das estimativas, comparação com preços reais, equilíbrio entre imóveis baratos e caros, comparação com critérios atuais.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Ilustração de uma “prova” aplicada ao modelo, com selo de aprovado/reprovado.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precisa provar que funciona antes de ser usado como apoio à decisão.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FAZ E NÃO FAZ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faz e o que ela não faz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324612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43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IA ajuda a...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43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IA não deve...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Estimar valor provável de mercado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Substituir o auditor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Comparar imóveis semelhantes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Autuar automaticamente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Encontrar transações fora do padrão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Ignorar situações especiais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Organizar evidências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Decidir sem fundamentação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Priorizar análises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Tratar a estimativa como verdade absoluta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Fortalecer a fundamentação técnica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Tabela de duas colunas com check verde de um lado e X vermelho do outro.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é uma ferramenta de apoio, não uma autoridade decisória.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AO MUNICÍPIO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esperados para o Município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segurança técnica no cálculo do ITIV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perdas em contestações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mais padronizadas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fundamentação em processos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mais rápida de valores incompatíveis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Ícones em grade: escudo, gráfico ascendente, documento, lupa.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melhora a capacidade do Município de defender tecnicamente o valor de mercado utilizado.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AO CONTRIBUINTE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para o contribuinte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mais objetivos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subjetividade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transparência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mais uniforme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Reconhecimento de valores já compatíveis com o mercado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Ícone de contribuinte e servidor lado a lado, com documento neutro entre eles.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modelo bem construído protege o Município e também o contribuinte correto.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e segurança do projeto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seleção dos dados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inconsistências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desempenho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periódica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humana dos casos sinalizados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das decisões metodológicas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Checklist/certificado com sub-ícones de lupa, calendário e documento assinado.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basta ter IA; é preciso ter governança, controle e fundamentação.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4415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de ITIV com inteligência artificial não substitui a decisão humana.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transforma dados históricos em evidências técnicas, para que o Município estime valores de mercado com mais consistência, justiça e segurança.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4F3EE"/>
          </a:solidFill>
          <a:ln w="9525">
            <a:solidFill>
              <a:srgbClr val="DEDAD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5257800"/>
            <a:ext cx="108200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visual: Ícone inicial (prédio + lupa) acompanhado de um aperto de mãos ou escudo protetor.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897880"/>
            <a:ext cx="107286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pPr indent="0" marL="0">
              <a:buNone/>
            </a:pPr>
            <a:r>
              <a:rPr lang="en-US" sz="14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dados em evidência técnica, para decisões mais justas e seguras.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8585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2026-07-08T19:53:57Z</dcterms:created>
  <dcterms:modified xsi:type="dcterms:W3CDTF">2026-07-08T19:53:57Z</dcterms:modified>
</cp:coreProperties>
</file>