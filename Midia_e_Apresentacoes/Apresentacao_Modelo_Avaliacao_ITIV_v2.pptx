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47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projeto da Coordenadoria de Inteligência Fiscal para dar base técnica à validação do valor de mercado no ITIV. Não é automação total: é apoio à decisão de auditores e procuradores. Todos os números desta apresentação vêm dos relatórios e arquivos de resultado do projeto (Etapas 0 a 5, registradas e aprovadas).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razão 0,851 foi medida no teste cego da Etapa 5 (base filtrada ±30% — citar a ressalva se perguntarem). O estoque de ~1.500 impugnações é administrativo (SEFAZ/DRM). A diferença de 13× entre setores vem da análise exploratória da engenharia de parâmetros.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148.811 é a base bruta total de transmissões 2021–2026 (Etapa 0 do registro de etapas). Se perguntarem sobre anúncios de sites: foram estudados como referência auxiliar em fases anteriores, mas o modelo aprovado usa somente transações declaradas.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mais citado depois das apresentações. Reforçar verbalmente cada item da coluna da direita — especialmente que sinalização não é autuação.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registro de etapas e do manifesto de treino: 148.811 bruto; 121.932 base limpa (81,9%); 97.990 apartamentos; filtro de plausibilidade → 46.392; split 37.116/9.276 com semente fixa. O filtro ±30% substituiu o corte de vendas simbólicas para restabelecer a leitura de PRD/PRB (decisão da equipe de 14/07/2026).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Engenharia de parâmetros (Etapas 1–7 do registro): lista final aprovada. A exclusão dos VLFC* tem dupla prova: circularidade conceitual + ganho nulo de R². A idade foi verificada no cadastro completo (922 mil imóveis): data de alvará em só 0,1% — ausência na origem do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 multi-modelo (metricas_cv_apartamentos.json): LightGBM 0,0926 de erro médio em log, seguido de Extra Trees, Random Forest, HistGB e ElasticNet. Hedônico como âncora foi a decisão D6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Nível de confiança de 90% foi a decisão D5 da equipe (14/07/2026). No teste final, 1.596 de 9.276 transações ficaram sinalizadas (17,2%); as demais 82,8% seriam validadas sem atrito. Analogia útil: previsão do tempo — 'entre 24 e 28 graus', não um número exato.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do etapa5_resultados.json (comparacao_venal_modelos) e do registro de etapas. IMPORTANTE: não citar o COD de 35,4% do venal nesta tabela — aquele número é da Etapa 6 parcial, medido na base antiga e sem o filtro ±30%; misturar as bases seria tecnicamente contestável. Se perguntarem sobre a dispersão histórica do venal, explicar a diferença de 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 5, bloco 3 (equidade vertical por decil e horizontal por setor): razão mediana 0,90–1,10 nos 10 decis e nos 70 setores com n≥10; COD ≤15% em todos os decis e em 63 dos 70 setores. Os 7 setores com COD acima têm amostras menores e ficam com atenção redobrada na revisão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Grau II de fundamentação: 15 pontos nas Tabelas 1/2 da NBR 14653-2, com o item 5 sustentado pela análise da variância por partes. Grau III de precisão: amplitude mediana do IC 80% = 2,05%. O item correto da norma IBAPE/SOBREA para ML é o 8.1.2. O manifesto SHA-256 é o arquivo manifesto_treino.json, gerado no congelamento da base (14/07/2026).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crítico para não gerar expectativa errada: o modelo NÃO está pronto para avaliação em massa de IPTU — cobre apartamentos transacionados. Idade/alvará: verificado no cadastro completo, presente em só 0,1% dos imóveis.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da decisão. Resumir os 4 passos e pausar para perguntas. A aprovação técnica (D4) já ocorreu em 14/07/2026; o que se pede agora é o aval para operar. Manutenção contínua: revisão periódica do modelo e registro formal das decisões seguem como rotina de governança.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o arco: o problema é real (prova técnica); a base histórica é um ativo que já existe; o modelo foi testado, validado por norma e aprovado; a IA apoia e não substitui; o pedido é a anuência para operar.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COORDENADORIA DE INTELIGÊNCIA FISCAL — SEFAZ SALVADOR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96596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Avaliação de Apartamentos para o ITIV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463040" y="3566160"/>
            <a:ext cx="926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histórico de transações do Município à evidência técnica validada por norma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717036" y="4572000"/>
            <a:ext cx="4754880" cy="603504"/>
          </a:xfrm>
          <a:prstGeom prst="rect">
            <a:avLst/>
          </a:prstGeom>
          <a:solidFill>
            <a:srgbClr val="0B57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717036" y="45720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aprovado tecnicamente em 14/07/2026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o valor é difícil de defender — para os dois lados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0,851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99970"/>
            <a:ext cx="330098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Razão mediana do valor venal frente ao preço real de venda no teste: ~15% abaixo do mercado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443984" y="1801368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499970"/>
            <a:ext cx="330098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Impugnações administrativas em estoque aguardando fundamentação técnica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691640"/>
            <a:ext cx="3575304" cy="1554480"/>
          </a:xfrm>
          <a:prstGeom prst="roundRect">
            <a:avLst>
              <a:gd name="adj" fmla="val 4706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02168" y="1801368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02168" y="2499970"/>
            <a:ext cx="3300984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 de preço/m² entre o setor fiscal mais caro (R$ 16.590) e o mais barato (R$ 1.238)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valor venal fica sistematicamente abaixo do mercado, o Município perde arrecadação de forma silenciosa.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tabela erra para cima em um caso específico, o contribuinte contesta — e sem prova técnica o Município tende a perder o processo.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não é apenas calcular o imposto: é justificar tecnicamente o valor de mercado utilizado.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é de prova técnica: precisamos demonstrar o valor de mercado, caso a caso, com método verificável.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Município já tem a resposta: seu próprio histórico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148.811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549347"/>
            <a:ext cx="30175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transações imobiliárias registradas no ITIV (2021–2026), já em poder do Município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0" y="1691640"/>
            <a:ext cx="7434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transmissão registrada informa o que foi vendido, onde, quando e por quanto.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aprende o padrão de preços dessa massa de dados — como um avaliador que já viu milhares de vendas, só que de forma padronizada e em grande escala.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91672" cy="960120"/>
          </a:xfrm>
          <a:prstGeom prst="rect">
            <a:avLst/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 de boa-fé: </a:t>
            </a: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imensa maioria das transações registradas reflete valores reais ou próximos do mercado. O modelo aprende com o comportamento da maioria — e os registros fora do padrão (valores simbólicos, erros de digitação) são tratados antes do treino, não ensinados ao modelo.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983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entram transações reais declaradas ao fisco — anúncios de internet não são base do modelo.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um ativo que já existe — o histórico de transações — em parâmetro técnico de avaliação.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DA FERRAMENTA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IA faz — e o que ela nunca deverá fazer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5029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foi desenhada para…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31636" y="1645920"/>
            <a:ext cx="5408676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368796" y="1645920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nunca deverá…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408676" cy="3200400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231636" y="2148840"/>
            <a:ext cx="5408676" cy="3200400"/>
          </a:xfrm>
          <a:prstGeom prst="rect">
            <a:avLst/>
          </a:prstGeom>
          <a:solidFill>
            <a:srgbClr val="F7EC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50429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Estimar uma faixa provável de valor de mercado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 imóvel com milhares de transações semelhantes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Sinalizar declarações muito fora do padrão esperado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evidências técnicas e fundamentar processos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a análise dos auditores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14516" y="2331720"/>
            <a:ext cx="50429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o julgamento do Auditor Fiscal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autuações tributárias automaticamente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processos sem fundamentação explicável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situações especiais de um imóvel específico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a estimativa como verdade absoluta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aponta indícios estatísticos; a análise humana confirma ou afasta o problema.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base: de 148.811 registros a uma base de treino auditável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05356" y="1627632"/>
            <a:ext cx="8778240" cy="713232"/>
          </a:xfrm>
          <a:prstGeom prst="rect">
            <a:avLst/>
          </a:prstGeom>
          <a:solidFill>
            <a:srgbClr val="0434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42516" y="162763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148.811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bruta de transmissões ITIV (2021–2026)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99716" y="2432304"/>
            <a:ext cx="7589520" cy="713232"/>
          </a:xfrm>
          <a:prstGeom prst="rect">
            <a:avLst/>
          </a:prstGeom>
          <a:solidFill>
            <a:srgbClr val="0B57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36876" y="243230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121.932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limpa: só compra e venda 100%, datas válidas, valor &gt; 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94076" y="3236976"/>
            <a:ext cx="6400800" cy="713232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031236" y="3236976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97.990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de apartamentos (segmento mais homogêneo e de maior massa)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88436" y="4041648"/>
            <a:ext cx="5212080" cy="713232"/>
          </a:xfrm>
          <a:prstGeom prst="rect">
            <a:avLst/>
          </a:prstGeom>
          <a:solidFill>
            <a:srgbClr val="3E957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25596" y="404164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46.392 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 plausibilidade: desvio venal × transação ≤ ±30% (decisão de 14/07/2026)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74520" y="4919472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011680" y="49194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37.116 — treino (80%)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cruzada k=10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4919472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46520" y="49194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9.276 — teste cego (20%)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intocado até a prova final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corte tem critério documentado e aprovado — a qualidade do modelo começa na qualidade da base.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DO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alimenta o cálculo — e o que foi excluído de propósito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(parâmetros aprovados)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086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privativa (em escala logarítmica) — o parâmetro que mais explica o preço (Spearman 0,79)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Localização: setor fiscal + coordenadas — fator mais determinante (13× entre setores)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de pavimentos do prédio — significativo e não redundante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Andar da unidade — usado com cautela (só 35% preenchido, com marcação tem/não tem)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dos preços no tempo — o modelo acompanha o mercado, não uma tabela congelada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31636" y="160020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Exclusões de integridade (bloqueadas)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1636" y="2011680"/>
            <a:ext cx="5408676" cy="3291840"/>
          </a:xfrm>
          <a:prstGeom prst="rect">
            <a:avLst/>
          </a:prstGeom>
          <a:solidFill>
            <a:srgbClr val="F7EC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14516" y="2194560"/>
            <a:ext cx="50429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do valor venal atual (VLFC*): excluídos para evitar circularidade — o modelo mede o mercado, não repete a tabela. Comprovado: incluí-los não melhora nada (R² +0,0002).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de internet: não são base do modelo — só transações reais declaradas.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redundantes (construída/unidade): correlação &gt; 0,90 com a privativa — ficaria contando duas vezes.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 do imóvel: dado inexistente no cadastro (~0%) — fica para fase futura, com fonte própria.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parâmetro entrou ou saiu por critério medido e registrado — nada foi escolhido por conveniência.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motores: precisão + explicabilidade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3383280"/>
          </a:xfrm>
          <a:prstGeom prst="roundRect">
            <a:avLst>
              <a:gd name="adj" fmla="val 2162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1 — LightGBM (preditivo)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0429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Papel: o modelo de produção — calcula a faixa de valor e sinaliza divergências.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Venceu disputa objetiva (GridSearch) contra 4 outras famílias de modelos, todas documentadas.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 as interações não lineares do mercado real (bairro × área × andar).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3383280"/>
          </a:xfrm>
          <a:prstGeom prst="roundRect">
            <a:avLst>
              <a:gd name="adj" fmla="val 2162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14516" y="182880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2 — Hedônico / OLS (âncora normativa)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4516" y="2286000"/>
            <a:ext cx="50429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Papel: a contraprova explicável e tradicional, no formato que a norma brasileira descreve.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os testes estatísticos exigidos pela NBR 14653-2.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o peso de cada variável para auditores e para a Procuradoria.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916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6E5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5800" y="521208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Treinados de forma independente: divergência grande entre os dois motores para um mesmo imóvel dispara alerta para revisão humana.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LightGBM entrega a precisão; o hedônico entrega a explicação exigida pela norma. Um confere o outro.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RESULTADO É USADO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com 90% de confiança — não um número seco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imóvel o modelo entrega uma estimativa central e uma faixa de 90% de confiança — características que o cadastro não enxerga (reforma, vista, conservação) cabem dentro da faixa.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declarado dentro da faixa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50429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Transação validada automaticamente, sem atrito.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teste: 82,8% dos casos seguem esse fluxo.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1636" y="2743200"/>
            <a:ext cx="5408676" cy="2286000"/>
          </a:xfrm>
          <a:prstGeom prst="roundRect">
            <a:avLst>
              <a:gd name="adj" fmla="val 3200"/>
            </a:avLst>
          </a:prstGeom>
          <a:solidFill>
            <a:srgbClr val="F7EC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14516" y="29260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declarado abaixo da faixa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3337560"/>
            <a:ext cx="50429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Sinalizado para o Auditor — revisão manual obrigatória.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teste: 1.596 transações sinalizadas (17,2%).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faixa absorve a incerteza natural do mercado; a sinalização separa diferença normal de indício real.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cego: 9.276 transações que o modelo nunca viu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2724912"/>
        </p:xfrm>
        <a:graphic>
          <a:graphicData uri="http://schemas.openxmlformats.org/drawingml/2006/table">
            <a:tbl>
              <a:tblPr/>
              <a:tblGrid>
                <a:gridCol w="441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 (IAAO)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internacional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LightGBM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venal atual*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4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geral (razão mediana) — acerta o valor?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0,90 a 1,10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0,999  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0,851  ✗ (subavaliado)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 — variação dos erros entre avaliações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  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— equilíbrio entre baratos e caros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0,98 a 1,03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1,017  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PRB — viés relacionado ao preço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−0,05 a +0,05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F6E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−0,009  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+0,024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Ressalva metodológica: nesta base de comparação o filtro de plausibilidade (±30%) limita, por construção, a dispersão do valor venal — o desvio real do venal na base completa é maior. A comparação válida e central é o nível geral: 0,851 contra 0,999.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metas internacionais de precisão (IAAO) atendidas no teste cego — com auditoria possível de ponta a ponta.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JUSTIÇA FISCAL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trata igual imóveis baratos e caros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de teste foi dividida em 10 faixas de valor (do decil mais barato ao mais caro) e em 70 setores fiscais com amostra suficiente — e o desempenho foi medido em cada grupo separadamente.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75304" cy="1691640"/>
          </a:xfrm>
          <a:prstGeom prst="roundRect">
            <a:avLst>
              <a:gd name="adj" fmla="val 4324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85800" y="2898648"/>
            <a:ext cx="330098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668573"/>
            <a:ext cx="3300984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 de valor com razão mediana dentro da meta (0,90–1,10) e COD ≤ 15%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2788920"/>
            <a:ext cx="3575304" cy="1691640"/>
          </a:xfrm>
          <a:prstGeom prst="roundRect">
            <a:avLst>
              <a:gd name="adj" fmla="val 4324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443984" y="2898648"/>
            <a:ext cx="330098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70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43984" y="3668573"/>
            <a:ext cx="3300984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fiscais (n ≥ 10) com razão mediana dentro da meta; COD ≤ 15% em 63 deles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2788920"/>
            <a:ext cx="3575304" cy="1691640"/>
          </a:xfrm>
          <a:prstGeom prst="roundRect">
            <a:avLst>
              <a:gd name="adj" fmla="val 4324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02168" y="2898648"/>
            <a:ext cx="3300984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1,017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PRB −0,009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02168" y="3668573"/>
            <a:ext cx="3300984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equidade vertical dentro das metas: sem viés contra baratos nem proteção a caros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prática: o modelo não penaliza contribuintes de baixa renda e não protege subdeclarações de imóveis de luxo.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Precisão que não é média esconde injustiça; aqui a meta foi verificada grupo a grupo.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NORMATIVA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regulamentada, não ciência oculta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9537192" cy="1298448"/>
          </a:xfrm>
          <a:prstGeom prst="roundRect">
            <a:avLst>
              <a:gd name="adj" fmla="val 4225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91714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ABNT NBR 14653-2 (avaliação de imóveis urbanos)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hedônico enquadrado no Grau II de fundamentação e Grau III de precisão — amplitude mediana do intervalo de 2,05%, muito abaixo do limite de 30%.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22992" y="2020824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222992" y="202082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9537192" cy="1298448"/>
          </a:xfrm>
          <a:prstGeom prst="roundRect">
            <a:avLst>
              <a:gd name="adj" fmla="val 4225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91714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IBAPE/SOBREA 2023, item 8.1.2 (uso de machine learning)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ML admitidas mediante justificativa e validação — ambas documentadas: validação cruzada k=10 e teste cego isolado.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22992" y="3483864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222992" y="348386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9537192" cy="1298448"/>
          </a:xfrm>
          <a:prstGeom prst="roundRect">
            <a:avLst>
              <a:gd name="adj" fmla="val 4225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91714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criptográfica (manifesto SHA-256)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Dados, códigos e semente do sorteio têm impressão digital registrada: qualquer auditoria externa que reexecute o processo chega exatamente aos mesmos números.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22992" y="4946904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222992" y="494690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aderente às normas brasileiras e auditável de ponta a ponta — decisões metodológicas registradas etapa por etapa.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DE ESCOPO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modelo vale hoje — e onde ainda não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50429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Apartamentos (compra e venda)</a:t>
            </a:r>
            <a:endParaRPr lang="en-US" sz="145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 — pronto para operação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volume e padronização; modelo testado, validado e aprovado em 14/07/2026.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1636" y="164592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14516" y="1755648"/>
            <a:ext cx="50429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Casas e terrenos</a:t>
            </a:r>
            <a:endParaRPr lang="en-US" sz="1450" dirty="0"/>
          </a:p>
          <a:p>
            <a:pPr marL="0" indent="0">
              <a:buNone/>
            </a:pPr>
            <a:r>
              <a:rPr lang="en-US" sz="1200" b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escopo atual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variabilidade construtiva exige modelagem própria — próxima expansão, com a mesma governança.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50429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Imóveis comerciais</a:t>
            </a:r>
            <a:endParaRPr lang="en-US" sz="1450" dirty="0"/>
          </a:p>
          <a:p>
            <a:pPr marL="0" indent="0">
              <a:buNone/>
            </a:pPr>
            <a:r>
              <a:rPr lang="en-US" sz="1200" b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escopo atual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com regras próprias; demanda base e modelo separados.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31636" y="338328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14516" y="3493008"/>
            <a:ext cx="50429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geral do IPTU</a:t>
            </a:r>
            <a:endParaRPr lang="en-US" sz="1450" dirty="0"/>
          </a:p>
          <a:p>
            <a:pPr marL="0" indent="0">
              <a:buNone/>
            </a:pPr>
            <a:r>
              <a:rPr lang="en-US" sz="1200" b="1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futuro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dados hoje ausentes do cadastro (idade, padrão construtivo) para os 922 mil imóveis — não é o que se propõe aqui.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com precisão o que o modelo cobre é parte da segurança jurídica: nada além do validado.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aprovação técnica ao uso operacional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592199" y="2057400"/>
            <a:ext cx="548640" cy="548640"/>
          </a:xfrm>
          <a:prstGeom prst="lin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592199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Anuência para operar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3614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o uso operacional do modelo de apartamentos como apoio à análise do ITIV — o pedido desta reunião.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67278" y="182880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10837" y="2057400"/>
            <a:ext cx="548640" cy="548640"/>
          </a:xfrm>
          <a:prstGeom prst="line">
            <a:avLst/>
          </a:prstGeom>
          <a:solidFill>
            <a:srgbClr val="5B66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410837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7006" y="27432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imediato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4438" y="3246120"/>
            <a:ext cx="23614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o modelo ao estoque de ~1.500 impugnações administrativas, priorizando e fundamentando as análises.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5916" y="182880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229475" y="2057400"/>
            <a:ext cx="548640" cy="548640"/>
          </a:xfrm>
          <a:prstGeom prst="line">
            <a:avLst/>
          </a:prstGeom>
          <a:solidFill>
            <a:srgbClr val="5B66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22947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95644" y="27432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Sistematização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3076" y="3246120"/>
            <a:ext cx="23614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a avaliação ao fluxo diário das novas transmissões declaradas.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04554" y="182880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4F3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048113" y="2057400"/>
            <a:ext cx="548640" cy="548640"/>
          </a:xfrm>
          <a:prstGeom prst="line">
            <a:avLst/>
          </a:prstGeom>
          <a:solidFill>
            <a:srgbClr val="5B66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048113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14282" y="2743200"/>
            <a:ext cx="2416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1714" y="3246120"/>
            <a:ext cx="236143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Estender o método a casas, terrenos e comerciais — reaproveitando a governança já validada.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870448"/>
            <a:ext cx="11091672" cy="566928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" y="587044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principal:  </a:t>
            </a:r>
            <a:r>
              <a:rPr lang="en-US" sz="1300" dirty="0">
                <a:solidFill>
                  <a:srgbClr val="043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Pedimos anuência para avançar do modelo validado ao uso operacional, começando pelos apartamentos.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" y="219456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Inteligência Fiscal não substitui a decisão humana.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F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transforma o histórico de dados do Município em evidência técnica, para que cada decisão — do auditor, do gestor e da Procuradoria — seja amparada pela melhor prova matemática disponível.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consistência. Mais justiça. Mais segurança.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D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2611</Words>
  <Application>Microsoft Office PowerPoint</Application>
  <PresentationFormat>Widescreen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Sidnei de Oliveira Rafael</cp:lastModifiedBy>
  <cp:revision>2</cp:revision>
  <dcterms:created xsi:type="dcterms:W3CDTF">2026-07-22T20:08:47Z</dcterms:created>
  <dcterms:modified xsi:type="dcterms:W3CDTF">2026-07-22T21:55:48Z</dcterms:modified>
</cp:coreProperties>
</file>