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89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Roteiro: 1) gênese do problema (impugnações represadas); 2) estudo conforme normas; 3) dados gerais do ITIV; 4) limpeza da base; 5) separação por tipo; 6) por que apartamentos; 7) construção do modelo; 8) resultados; 9) conclusão. Todos os números vêm dos arquivos e relatórios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Fontes: extração de transmissões (Dados ITIV.xlsx, 149.432 linhas): 3.861 com motivo de impugnação; por ano 98/148/455/944/1.568/648; 344 em aberto. Base SELAN (ITIV_Base_Consolidada_2025_2026.xlsx): 538 impugnações pagas jan–mai/2026 (417 compra e venda + 119 garagens + 2 permutas) = R$ 10,7 mi = 7,5% da arrecadação. Razão 0,851: etapa5_resultados.json. Se citarem o número ~1.500: é o estoque aproximado de processos administrativos informado no plano; a extração de transmissões mostra 344 em aberto — são recortes diferentes, confirmar com a DRM antes de usar.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registro de etapas (REGISTRO_ETAPAS_APROVACAO) documenta cada decisão com fundamento normativo: Chauvenet para outliers (critério consagrado iterativo exigido pela NBR — a norma não nomeia método), exclusão de fatores circulares, split com semente fixa,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148.811 é a base bruta usada no estudo (Etapa 0). A extração atualizada de 20/07 tem 149.432 linhas — o acervo cresce continuamente. O ~70% vem do resumo por tipo da base SELAN (70,4% do valor em jan–mai/2026; 68,9% em 2025). O 13× vem da análise exploratória por setor fiscal.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 0 a 3 do registro: base limpa 121.932 (81,9% do bruto). Comparação de 4 métodos de outlier (Chauvenet 0,5%, Z-score 0,9%, Mahalanobis 1,8%, IQR 4,7%) — Chauvenet escolhido por ser o mais cirúrgico e atender à exigência da norma (critério consagrado, aplicação iterativa).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Contagem direta da base_limpa_normas.parquet (121.932 linhas): Apartamento 97.990; Casa 9.668; Sala 7.138; Loja 2.611; Garagem/Depósito 1.081 + Garagem 945 + Box 149 = 2.175; Terreno 1.350; demais ~1.000. Fundamento da segmentação: IBAPE 7.3.2 (homogeneidade).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de escopo registrada em 22/06/2026: somente apartamentos na primeira fase (IBAPE 7.3.2). Idade do imóvel: inexistente no cadastro (verificado também no cadastro completo de 922 mil imóveis — alvará em 0,1%) — fica para fase futura com fonte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Filtro de plausibilidade substituiu o corte de vendas simbólicas para restabelecer PRD/PRB (decisão da equipe). Split com semente fixa e manifesto SHA-256 (base e código congelados — auditoria externa reproduz os mesmos números). GridSearch: LightGBM 0,0926 de erro em log, à frente de Extra Trees, RF, HistGB e ElasticNet. Confiança de 90% foi a decisão D5.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Fontes: etapa5_resultados.json e registro de etapas. Não citar o COD 35,4% do venal (é da base antiga, sem filtro — misturar bases seria contestável). Sinalizados: 1.596 de 9.276 (17,2%), nível de confiança 90% (decisão D5).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da decisão: resumir os dois blocos e pausar para perguntas. O pedido objetivo é a anuência para operar o modelo de apartamentos. Sobre o estoque: usar 'estoque de impugnações em aberto' sem cravar número — a extração mostra 344 em aberto nas transmissões; o ~1.500 de processos administrativos precisa de confirmação da DRM.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COORDENADORIA DE INTELIGÊNCIA FISCAL — SEFAZ SALVADOR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9659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Avaliação de Apartamentos para o ITIV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56616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gênese do problema aos resultados validados por norma técnica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17036" y="4572000"/>
            <a:ext cx="4754880" cy="603504"/>
          </a:xfrm>
          <a:prstGeom prst="rect">
            <a:avLst/>
          </a:prstGeom>
          <a:solidFill>
            <a:srgbClr val="0B57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717036" y="45720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aprovado tecnicamente em 14/07/2026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GÊNESE DO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Impugnações represadas: a contestação virou rotina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3.861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impugnações de valor venal registradas nas transmissões de 2021 a 2026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43984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do volume anual: 98 casos em 2021 → 1.568 em 2025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02168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02168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arrecadação do ITIV em jan–mai/2026 veio de impugnações decididas (538 guias — R$ 10,6 mi)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1091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venal usado como referência está, na mediana, ~15% abaixo do preço real de venda (razão 0,851 no teste do modelo) — o Município perde silenciosamente na maioria e é contestado nos casos em que a tabela erra para cima.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 fluxo crescente, há estoque: 344 impugnações em aberto só nesta extração de transmissões, e processos administrativos acumulados na DRM.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prova técnica caso a caso, cada contestação vira retrabalho — e risco de perda.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não é calcular o imposto: é conseguir defender tecnicamente o valor de mercado, caso a caso.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O ESTUDO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refazimento guiado por normas técnicas, etapa por etapa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725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ABNT NBR 14653-2 — Avaliação de bens: imóveis urbanos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para amostragem, tratamento de dados, modelo hedônico e graus de fundamentação e precisão.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3044952"/>
            <a:ext cx="10725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IBAPE/SOBREA 2023 — item 8.1.2 (machine learning)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Admite técnicas de ML mediante justificativa e validação documentadas — exatamente o rito seguido.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61104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4352544"/>
            <a:ext cx="10725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IAAO — padrão internacional de avaliação em massa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objetivas de qualidade: nível geral (razão), COD, PRD e PRB — usadas como critério de aprovação.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14416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trabalho: cada etapa (base, amostra, outliers, parâmetros, treino, validação) foi medida, documentada e submetida à aprovação da equipe antes de prosseguir — com registro formal das decisões.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experimento de tecnologia: é engenharia de avaliação regulamentada, com decisões registradas.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DADOS GERAIS DO ITIV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histórico de 2021–2026 revela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148.811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transmissões registradas no ITIV no período 2021–2026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43984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arrecadação vem de compra e venda — o coração do imposto (jan–mai/2026)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45920"/>
            <a:ext cx="3575304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02168" y="175564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02168" y="2478024"/>
            <a:ext cx="33009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 de preço/m² entre o setor fiscal mais caro (R$ 16.590) e o mais barato (R$ 1.238)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transmissão declara o imóvel, a localização, as áreas, a data e o valor — a matéria-prima de uma avaliação comparativa.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variação de 13× entre setores mostra por que tabela fixa de R$/m² não consegue ser justa em Salvador.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acervo já pertence ao Município: o estudo transforma um ativo parado em parâmetro técnico.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Município já possui a resposta: o próprio histórico de transações.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LIMPEZA DA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funil: só entra o que serve de prova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13916" y="1691640"/>
            <a:ext cx="8961120" cy="77724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751076" y="16916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148.811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Transmissões brutas (2021–2026)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45436" y="2587752"/>
            <a:ext cx="7498080" cy="777240"/>
          </a:xfrm>
          <a:prstGeom prst="rect">
            <a:avLst/>
          </a:prstGeom>
          <a:solidFill>
            <a:srgbClr val="0B57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82596" y="258775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121.932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limpa (81,9%): só compra e venda de 100% do imóvel, situação válida, datas recuperadas, valor &gt; 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21024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Excluídos: doações, adjudicações, permutas e demais atos que não expressam preço de mercado; transmissões parciais; registros cancelados; valores zerados.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Duplicidades investigadas uma a uma antes de qualquer decisão (13.239 linhas verificadas: mesma venda com reentradas administrativas — mantidas na base, contadas uma única vez no treino).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discrepantes (venda de R$ 0,01, apto a R$ 20 mi/m²) tratados por critério estatístico consagrado e iterativo (Chauvenet), conforme exige a NBR 14653-2 — marcando só 0,5% dos dados.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corte tem critério, fundamento normativo e registro — a base final é auditável.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SEPARAÇÃO POR TIPO DE IMÓVEL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existe dentro da base limpa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498080" cy="36576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imóvel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Transações (2021–2026)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Apartamento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97.990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 comercial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Garagens e box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Terreno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Demais (galpão, prédio, outros)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412480" y="1737360"/>
            <a:ext cx="32278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em cada 5 transações são de apartamentos.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tipologia tem dinâmica própria de preço — misturar tudo num modelo único violaria a homogeneidade que a norma pede.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estratégia: um modelo por tipologia, começando pela de maior massa.</a:t>
            </a:r>
            <a:endParaRPr lang="en-US" sz="1350" dirty="0"/>
          </a:p>
        </p:txBody>
      </p:sp>
      <p:sp>
        <p:nvSpPr>
          <p:cNvPr id="5" name="Shape 4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limpa foi segmentada por tipologia — modelos específicos, não um modelo genérico.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POR QUE APARTAMENTOS?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segmento certo para começar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0867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massa de dados: 97.990 transações — quanto mais exemplos, mais preciso e estável o padrão aprendido.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mais homogêneo: unidades comparáveis entre si (área, andar, prédio), como pede a norma (IBAPE 7.3.2).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pressão de contestação: apartamentos dominam as transmissões — é onde o problema das impugnações mais aparece.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31636" y="1691640"/>
            <a:ext cx="5408676" cy="3931920"/>
          </a:xfrm>
          <a:prstGeom prst="roundRect">
            <a:avLst>
              <a:gd name="adj" fmla="val 186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14516" y="187452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dos dados no segmento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14516" y="2331720"/>
            <a:ext cx="50429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privativa preenchida em 99,94% dos casos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fiscal em 99,99%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 geográficas em 98,4%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pavimentos do prédio em 77%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Andar da unidade em 35% — usado com cautela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onde há mais dados, mais homogeneidade e mais contestação — casas, salas e terrenos vêm na expansão.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— CONSTRUÇÃO DO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Treino controlado, prova separada e dois motores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291840" cy="86868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645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97.990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apartamentos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645920"/>
            <a:ext cx="3749040" cy="8686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224528" y="1645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46.392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filtro de plausibilidade (±30% do venal — decisão de 14/07/2026)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645920"/>
            <a:ext cx="3474720" cy="868680"/>
          </a:xfrm>
          <a:prstGeom prst="rect">
            <a:avLst/>
          </a:prstGeom>
          <a:solidFill>
            <a:srgbClr val="3E95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47888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37.116 treino  |  9.276 teste cego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(intocado até a prova final)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408676" cy="1965960"/>
          </a:xfrm>
          <a:prstGeom prst="roundRect">
            <a:avLst>
              <a:gd name="adj" fmla="val 372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preditivo — LightGBM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0429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Venceu disputa objetiva contra 4 outras famílias de modelos (GridSearch documentado).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 interações não lineares: bairro × área × andar.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1636" y="2788920"/>
            <a:ext cx="5408676" cy="1965960"/>
          </a:xfrm>
          <a:prstGeom prst="roundRect">
            <a:avLst>
              <a:gd name="adj" fmla="val 372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14516" y="2926080"/>
            <a:ext cx="5042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Âncora normativa — modelo hedônico (OLS)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14516" y="3291840"/>
            <a:ext cx="50429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os testes estatísticos da NBR 14653-2 e explica o peso de cada variável.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 entre os dois motores dispara revisão humana.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aprovadas: área privativa (log), localização (setor + coordenadas), pavimentos, andar (com cautela). Excluídos por integridade: fatores do venal atual (circularidade), áreas redundantes, anúncios de internet.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entregue como faixa com 90% de confiança — sinalização não é autuação: é alerta para o auditor.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—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cego em 9.276 vendas que o modelo nunca viu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74625"/>
              </p:ext>
            </p:extLst>
          </p:nvPr>
        </p:nvGraphicFramePr>
        <p:xfrm>
          <a:off x="548640" y="1645920"/>
          <a:ext cx="6949440" cy="24231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 (IAAO)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LightGBM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venal atual*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geral (razão mediana)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0,90–1,10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0,999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0,851  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 — dispersão dos erros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— equilíbrio barato × caro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0,98–1,03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1,017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PRB — viés ligado ao preço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±0,05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−0,009 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1737360"/>
            <a:ext cx="38679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Equidade: razão na meta nos 10 decis de valor e nos 70 setores com amostra suficiente; COD ≤ 15% em todos os decis e em 63/70 setores.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82,8% das transações validadas sem atrito; 17,2% sinalizadas para revisão humana (1.596 casos no teste).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Enquadramento: Grau II de fundamentação e Grau III de precisão (amplitude mediana do intervalo: 2,05%).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Ressalva: o filtro de plausibilidade (±30%) limita por construção a dispersão do venal nesta base — a comparação central é o nível geral: 0,851 vs 0,999.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metas internacionais atendidas no teste cego — modelo aprovado formalmente em 14/07/2026.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— 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 para apartamentos — e um caminho claro adiante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3200400"/>
          </a:xfrm>
          <a:prstGeom prst="roundRect">
            <a:avLst>
              <a:gd name="adj" fmla="val 2286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pronto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429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apartamentos testado, validado por norma e aprovado (14/07/2026).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com 90% de confiança + revisão humana obrigatória dos sinalizados.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total: decisões registradas e manifesto criptográfico.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3200400"/>
          </a:xfrm>
          <a:prstGeom prst="roundRect">
            <a:avLst>
              <a:gd name="adj" fmla="val 2286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14516" y="17830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propõe agora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4516" y="2194560"/>
            <a:ext cx="50429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Anuência para uso operacional no ITIV de apartamentos.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ao estoque de impugnações em aberto, priorizando e fundamentando as análises.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Expandir o método a casas, salas e terrenos com a mesma governança.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declarados: cobre apartamentos transacionados; não substitui o auditor; não autua automaticamente; não é ferramenta de recadastramento geral do IPTU.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não substitui a decisão humana: ela blinda a decisão institucional com a melhor evidência disponível.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2116</Words>
  <Application>Microsoft Office PowerPoint</Application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Sidnei de Oliveira Rafael</cp:lastModifiedBy>
  <cp:revision>2</cp:revision>
  <dcterms:created xsi:type="dcterms:W3CDTF">2026-07-22T22:01:38Z</dcterms:created>
  <dcterms:modified xsi:type="dcterms:W3CDTF">2026-07-22T22:42:48Z</dcterms:modified>
</cp:coreProperties>
</file>